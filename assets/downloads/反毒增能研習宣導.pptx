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8" r:id="rId5"/>
    <p:sldId id="269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59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400" b="1">
                <a:solidFill>
                  <a:srgbClr val="1C3A52"/>
                </a:solidFill>
                <a:latin typeface="標楷體"/>
              </a:defRPr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40080"/>
            <a:ext cx="713232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000" b="1">
                <a:solidFill>
                  <a:srgbClr val="2B7059"/>
                </a:solidFill>
                <a:latin typeface="標楷體"/>
              </a:defRPr>
            </a:pPr>
            <a:r>
              <a:t>115學年度｜青年高中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799" y="1325880"/>
            <a:ext cx="8732519" cy="80021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4600" b="1">
                <a:solidFill>
                  <a:srgbClr val="1C3A52"/>
                </a:solidFill>
                <a:latin typeface="標楷體"/>
              </a:defRPr>
            </a:pPr>
            <a:r>
              <a:rPr dirty="0" err="1">
                <a:latin typeface="標楷體" panose="03000509000000000000" pitchFamily="65" charset="-120"/>
                <a:ea typeface="標楷體" panose="03000509000000000000" pitchFamily="65" charset="-120"/>
              </a:rPr>
              <a:t>家長班親會</a:t>
            </a:r>
            <a:r>
              <a:rPr sz="4600" b="1" dirty="0" err="1">
                <a:solidFill>
                  <a:srgbClr val="1C3A52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・</a:t>
            </a:r>
            <a:r>
              <a:rPr sz="4600" b="1" dirty="0" err="1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反毒</a:t>
            </a:r>
            <a:r>
              <a:rPr lang="zh-TW" altLang="en-US" sz="4600" b="1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增能研習</a:t>
            </a:r>
            <a:r>
              <a:rPr sz="4600" b="1" dirty="0" err="1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宣導</a:t>
            </a:r>
            <a:endParaRPr sz="4600" b="1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2423160"/>
            <a:ext cx="987552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000" b="0">
                <a:solidFill>
                  <a:srgbClr val="505050"/>
                </a:solidFill>
                <a:latin typeface="標楷體"/>
              </a:defRPr>
            </a:pPr>
            <a:r>
              <a:t>10分鐘掌握：新興毒品辨識 × 法規底線 × 家庭守門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3509" y="3410712"/>
            <a:ext cx="9447711" cy="1252728"/>
          </a:xfrm>
          <a:prstGeom prst="roundRect">
            <a:avLst/>
          </a:prstGeom>
          <a:solidFill>
            <a:srgbClr val="EB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4307" y="3755053"/>
            <a:ext cx="9586113" cy="5232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800" b="1">
                <a:solidFill>
                  <a:srgbClr val="2B7059"/>
                </a:solidFill>
                <a:latin typeface="標楷體"/>
              </a:defRPr>
            </a:pPr>
            <a:r>
              <a:rPr dirty="0"/>
              <a:t>「</a:t>
            </a:r>
            <a:r>
              <a:rPr dirty="0" err="1"/>
              <a:t>孩子需要的不是恐嚇，而是有人能及早看見、</a:t>
            </a:r>
            <a:r>
              <a:rPr dirty="0" err="1" smtClean="0"/>
              <a:t>願意接住</a:t>
            </a:r>
            <a:r>
              <a:rPr dirty="0" smtClean="0"/>
              <a:t>」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731520" y="5257800"/>
            <a:ext cx="5486400" cy="55399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000" b="1">
                <a:solidFill>
                  <a:srgbClr val="1C3A52"/>
                </a:solidFill>
                <a:latin typeface="標楷體"/>
              </a:defRPr>
            </a:pPr>
            <a:r>
              <a:rPr dirty="0" err="1"/>
              <a:t>報告人</a:t>
            </a:r>
            <a:r>
              <a:rPr dirty="0" smtClean="0"/>
              <a:t>：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生輔組長</a:t>
            </a:r>
            <a:r>
              <a:rPr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林建志</a:t>
            </a:r>
            <a:endParaRPr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9784080" y="1828800"/>
            <a:ext cx="457200" cy="457200"/>
          </a:xfrm>
          <a:prstGeom prst="ellipse">
            <a:avLst/>
          </a:prstGeom>
          <a:solidFill>
            <a:srgbClr val="EEB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601200" y="2267712"/>
            <a:ext cx="822960" cy="960120"/>
          </a:xfrm>
          <a:prstGeom prst="round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789919" y="1828800"/>
            <a:ext cx="457200" cy="457200"/>
          </a:xfrm>
          <a:prstGeom prst="ellipse">
            <a:avLst/>
          </a:prstGeom>
          <a:solidFill>
            <a:srgbClr val="EEB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607040" y="2267712"/>
            <a:ext cx="822960" cy="960120"/>
          </a:xfrm>
          <a:prstGeom prst="roundRect">
            <a:avLst/>
          </a:prstGeom>
          <a:solidFill>
            <a:srgbClr val="B0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287000" y="2971800"/>
            <a:ext cx="457200" cy="457200"/>
          </a:xfrm>
          <a:prstGeom prst="ellipse">
            <a:avLst/>
          </a:prstGeom>
          <a:solidFill>
            <a:srgbClr val="EEB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104120" y="3410712"/>
            <a:ext cx="822960" cy="960120"/>
          </a:xfrm>
          <a:prstGeom prst="roundRect">
            <a:avLst/>
          </a:prstGeom>
          <a:solidFill>
            <a:srgbClr val="D2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7D7D7D"/>
                </a:solidFill>
                <a:latin typeface="標楷體"/>
              </a:defRPr>
            </a:pPr>
            <a:r>
              <a:t>115學年度 青年高中班親會｜學務處反毒宣導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1200" b="0">
                <a:solidFill>
                  <a:srgbClr val="7D7D7D"/>
                </a:solidFill>
                <a:latin typeface="標楷體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400" b="1">
                <a:solidFill>
                  <a:srgbClr val="1C3A52"/>
                </a:solidFill>
                <a:latin typeface="標楷體"/>
              </a:defRPr>
            </a:pPr>
            <a:r>
              <a:t>一、現在的毒品，可能不像「毒品」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301752"/>
            <a:ext cx="17373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1500" b="1">
                <a:solidFill>
                  <a:srgbClr val="2B7059"/>
                </a:solidFill>
                <a:latin typeface="標楷體"/>
              </a:defRPr>
            </a:pPr>
            <a:r>
              <a:t>風險辨識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1589" y="1051560"/>
            <a:ext cx="11486605" cy="55399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000" b="1">
                <a:solidFill>
                  <a:srgbClr val="1C3A52"/>
                </a:solidFill>
                <a:latin typeface="標楷體"/>
              </a:defRPr>
            </a:pPr>
            <a:r>
              <a:rPr dirty="0" err="1"/>
              <a:t>新興毒品常以日常商品或電子煙載具偽裝，家長不能只看外觀判斷</a:t>
            </a:r>
            <a:r>
              <a:rPr dirty="0"/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91640" y="1874519"/>
            <a:ext cx="1325880" cy="1508760"/>
          </a:xfrm>
          <a:prstGeom prst="roundRect">
            <a:avLst/>
          </a:prstGeom>
          <a:solidFill>
            <a:srgbClr val="EABE4C"/>
          </a:solidFill>
          <a:ln>
            <a:solidFill>
              <a:srgbClr val="826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92808" y="2258568"/>
            <a:ext cx="91440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4000" b="1">
                <a:solidFill>
                  <a:srgbClr val="B03737"/>
                </a:solidFill>
                <a:latin typeface="標楷體"/>
              </a:defRPr>
            </a:pPr>
            <a: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03320"/>
            <a:ext cx="310896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3000" b="1">
                <a:solidFill>
                  <a:srgbClr val="B03737"/>
                </a:solidFill>
                <a:latin typeface="標楷體"/>
              </a:defRPr>
            </a:pPr>
            <a:r>
              <a:t>咖啡包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79392"/>
            <a:ext cx="3108960" cy="822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600" b="0">
                <a:solidFill>
                  <a:srgbClr val="505050"/>
                </a:solidFill>
                <a:latin typeface="標楷體"/>
              </a:defRPr>
            </a:pPr>
            <a:r>
              <a:t>不明粉末／沖泡包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79" y="1874519"/>
            <a:ext cx="1325880" cy="1508760"/>
          </a:xfrm>
          <a:prstGeom prst="roundRect">
            <a:avLst/>
          </a:prstGeom>
          <a:solidFill>
            <a:srgbClr val="EABE4C"/>
          </a:solidFill>
          <a:ln>
            <a:solidFill>
              <a:srgbClr val="826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41847" y="2258568"/>
            <a:ext cx="91440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4000" b="1">
                <a:solidFill>
                  <a:srgbClr val="B03737"/>
                </a:solidFill>
                <a:latin typeface="標楷體"/>
              </a:defRPr>
            </a:pPr>
            <a: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3703320"/>
            <a:ext cx="310896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3000" b="1">
                <a:solidFill>
                  <a:srgbClr val="B03737"/>
                </a:solidFill>
                <a:latin typeface="標楷體"/>
              </a:defRPr>
            </a:pPr>
            <a:r>
              <a:t>糖果果凍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4279392"/>
            <a:ext cx="3108960" cy="822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600" b="0">
                <a:solidFill>
                  <a:srgbClr val="505050"/>
                </a:solidFill>
                <a:latin typeface="標楷體"/>
              </a:defRPr>
            </a:pPr>
            <a:r>
              <a:t>色彩包裝吸引注意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2468880"/>
            <a:ext cx="1600200" cy="411480"/>
          </a:xfrm>
          <a:prstGeom prst="round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332719" y="2532888"/>
            <a:ext cx="411480" cy="274320"/>
          </a:xfrm>
          <a:prstGeom prst="rect">
            <a:avLst/>
          </a:prstGeom>
          <a:solidFill>
            <a:srgbClr val="96A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10607040" y="2103120"/>
            <a:ext cx="411480" cy="502920"/>
          </a:xfrm>
          <a:prstGeom prst="arc">
            <a:avLst/>
          </a:prstGeom>
          <a:noFill/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Arc 17"/>
          <p:cNvSpPr/>
          <p:nvPr/>
        </p:nvSpPr>
        <p:spPr>
          <a:xfrm>
            <a:off x="10725912" y="2048255"/>
            <a:ext cx="411480" cy="502920"/>
          </a:xfrm>
          <a:prstGeom prst="arc">
            <a:avLst/>
          </a:prstGeom>
          <a:noFill/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rc 18"/>
          <p:cNvSpPr/>
          <p:nvPr/>
        </p:nvSpPr>
        <p:spPr>
          <a:xfrm>
            <a:off x="10844784" y="1993391"/>
            <a:ext cx="411480" cy="502920"/>
          </a:xfrm>
          <a:prstGeom prst="arc">
            <a:avLst/>
          </a:prstGeom>
          <a:noFill/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3703320"/>
            <a:ext cx="310896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3000" b="1">
                <a:solidFill>
                  <a:srgbClr val="B03737"/>
                </a:solidFill>
                <a:latin typeface="標楷體"/>
              </a:defRPr>
            </a:pPr>
            <a:r>
              <a:t>電子煙彈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279392"/>
            <a:ext cx="3108960" cy="822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600" b="0">
                <a:solidFill>
                  <a:srgbClr val="505050"/>
                </a:solidFill>
                <a:latin typeface="標楷體"/>
              </a:defRPr>
            </a:pPr>
            <a:r>
              <a:t>可能混摻依托咪酯等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486400"/>
            <a:ext cx="10789920" cy="640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3000" b="1">
                <a:solidFill>
                  <a:srgbClr val="2B7059"/>
                </a:solidFill>
                <a:latin typeface="標楷體"/>
              </a:defRPr>
            </a:pPr>
            <a:r>
              <a:t>家庭原則：不明來源、不明成分 → 不碰、不吃、不喝、不吸。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7D7D7D"/>
                </a:solidFill>
                <a:latin typeface="標楷體"/>
              </a:defRPr>
            </a:pPr>
            <a:r>
              <a:t>115學年度 青年高中班親會｜學務處反毒宣導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1200" b="0">
                <a:solidFill>
                  <a:srgbClr val="7D7D7D"/>
                </a:solidFill>
                <a:latin typeface="標楷體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400" b="1">
                <a:solidFill>
                  <a:srgbClr val="1C3A52"/>
                </a:solidFill>
                <a:latin typeface="標楷體"/>
              </a:defRPr>
            </a:pPr>
            <a:r>
              <a:t>二、家長一定要認識：依托咪酯（俗稱喪屍煙彈）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301752"/>
            <a:ext cx="17373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1500" b="1">
                <a:solidFill>
                  <a:srgbClr val="2B7059"/>
                </a:solidFill>
                <a:latin typeface="標楷體"/>
              </a:defRPr>
            </a:pPr>
            <a:r>
              <a:t>新興毒品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828800"/>
            <a:ext cx="1600200" cy="411480"/>
          </a:xfrm>
          <a:prstGeom prst="round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87000" y="1892808"/>
            <a:ext cx="411480" cy="274320"/>
          </a:xfrm>
          <a:prstGeom prst="rect">
            <a:avLst/>
          </a:prstGeom>
          <a:solidFill>
            <a:srgbClr val="96A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Arc 7"/>
          <p:cNvSpPr/>
          <p:nvPr/>
        </p:nvSpPr>
        <p:spPr>
          <a:xfrm>
            <a:off x="10561320" y="1463040"/>
            <a:ext cx="411480" cy="502920"/>
          </a:xfrm>
          <a:prstGeom prst="arc">
            <a:avLst/>
          </a:prstGeom>
          <a:noFill/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rc 8"/>
          <p:cNvSpPr/>
          <p:nvPr/>
        </p:nvSpPr>
        <p:spPr>
          <a:xfrm>
            <a:off x="10680192" y="1408176"/>
            <a:ext cx="411480" cy="502920"/>
          </a:xfrm>
          <a:prstGeom prst="arc">
            <a:avLst/>
          </a:prstGeom>
          <a:noFill/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rc 9"/>
          <p:cNvSpPr/>
          <p:nvPr/>
        </p:nvSpPr>
        <p:spPr>
          <a:xfrm>
            <a:off x="10799064" y="1353312"/>
            <a:ext cx="411480" cy="502920"/>
          </a:xfrm>
          <a:prstGeom prst="arc">
            <a:avLst/>
          </a:prstGeom>
          <a:noFill/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143000"/>
            <a:ext cx="7680960" cy="286232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000" b="0">
                <a:solidFill>
                  <a:srgbClr val="505050"/>
                </a:solidFill>
                <a:latin typeface="標楷體"/>
              </a:defRPr>
            </a:pPr>
            <a:r>
              <a:rPr dirty="0"/>
              <a:t>• </a:t>
            </a:r>
            <a:r>
              <a:rPr dirty="0" err="1"/>
              <a:t>近年常偽裝於電子煙、煙彈等產品中</a:t>
            </a:r>
            <a:r>
              <a:rPr dirty="0"/>
              <a:t>。</a:t>
            </a:r>
            <a:br>
              <a:rPr dirty="0"/>
            </a:br>
            <a:r>
              <a:rPr dirty="0"/>
              <a:t>• </a:t>
            </a:r>
            <a:r>
              <a:rPr dirty="0" err="1"/>
              <a:t>可能造成意識混亂、昏迷、</a:t>
            </a:r>
            <a:r>
              <a:rPr dirty="0" err="1" smtClean="0"/>
              <a:t>肌肉痙攣等嚴</a:t>
            </a:r>
            <a:r>
              <a:rPr lang="en-US" dirty="0" smtClean="0"/>
              <a:t>   </a:t>
            </a:r>
          </a:p>
          <a:p>
            <a:pPr algn="l">
              <a:defRPr sz="3000" b="0">
                <a:solidFill>
                  <a:srgbClr val="505050"/>
                </a:solidFill>
                <a:latin typeface="標楷體"/>
              </a:defRPr>
            </a:pPr>
            <a:r>
              <a:rPr lang="en-US" dirty="0"/>
              <a:t> </a:t>
            </a:r>
            <a:r>
              <a:rPr lang="en-US" dirty="0" smtClean="0"/>
              <a:t>  </a:t>
            </a:r>
            <a:r>
              <a:rPr dirty="0" err="1" smtClean="0"/>
              <a:t>重危害</a:t>
            </a:r>
            <a:r>
              <a:rPr dirty="0"/>
              <a:t>。</a:t>
            </a:r>
            <a:br>
              <a:rPr dirty="0"/>
            </a:br>
            <a:r>
              <a:rPr dirty="0"/>
              <a:t>• </a:t>
            </a:r>
            <a:r>
              <a:rPr dirty="0" err="1" smtClean="0"/>
              <a:t>教育部持續將依托咪酯列為校園新興毒品</a:t>
            </a:r>
            <a:endParaRPr lang="en-US" dirty="0" smtClean="0"/>
          </a:p>
          <a:p>
            <a:pPr algn="l">
              <a:defRPr sz="3000" b="0">
                <a:solidFill>
                  <a:srgbClr val="505050"/>
                </a:solidFill>
                <a:latin typeface="標楷體"/>
              </a:defRPr>
            </a:pPr>
            <a:r>
              <a:rPr lang="en-US" dirty="0"/>
              <a:t> </a:t>
            </a:r>
            <a:r>
              <a:rPr lang="en-US" dirty="0" smtClean="0"/>
              <a:t>  </a:t>
            </a:r>
            <a:r>
              <a:rPr dirty="0" err="1" smtClean="0"/>
              <a:t>防制重點</a:t>
            </a:r>
            <a:r>
              <a:rPr dirty="0"/>
              <a:t>。</a:t>
            </a:r>
            <a:br>
              <a:rPr dirty="0"/>
            </a:br>
            <a:r>
              <a:rPr dirty="0"/>
              <a:t>• </a:t>
            </a:r>
            <a:r>
              <a:rPr dirty="0" err="1"/>
              <a:t>依托咪酯已列為第二級毒品</a:t>
            </a:r>
            <a:r>
              <a:rPr dirty="0"/>
              <a:t>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3086100"/>
            <a:ext cx="2971800" cy="1508760"/>
          </a:xfrm>
          <a:prstGeom prst="roundRect">
            <a:avLst/>
          </a:prstGeom>
          <a:solidFill>
            <a:srgbClr val="FA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41080" y="3154680"/>
            <a:ext cx="2606040" cy="9601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800" b="1">
                <a:solidFill>
                  <a:srgbClr val="B03737"/>
                </a:solidFill>
                <a:latin typeface="標楷體"/>
              </a:defRPr>
            </a:pPr>
            <a:r>
              <a:t>電子煙 ≠ 安全</a:t>
            </a:r>
            <a:br/>
            <a:r>
              <a:t>煙彈也可能成為</a:t>
            </a:r>
            <a:br/>
            <a:r>
              <a:t>毒品載具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440680"/>
            <a:ext cx="10789920" cy="640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3000" b="1">
                <a:solidFill>
                  <a:srgbClr val="2B7059"/>
                </a:solidFill>
                <a:latin typeface="標楷體"/>
              </a:defRPr>
            </a:pPr>
            <a:r>
              <a:t>家長提醒：看到陌生煙彈、煙油、電子煙裝置，要提高警覺。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7D7D7D"/>
                </a:solidFill>
                <a:latin typeface="標楷體"/>
              </a:defRPr>
            </a:pPr>
            <a:r>
              <a:t>115學年度 青年高中班親會｜學務處反毒宣導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1200" b="0">
                <a:solidFill>
                  <a:srgbClr val="7D7D7D"/>
                </a:solidFill>
                <a:latin typeface="標楷體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973" y="0"/>
            <a:ext cx="90500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49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351" y="0"/>
            <a:ext cx="91072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316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400" b="1">
                <a:solidFill>
                  <a:srgbClr val="1C3A52"/>
                </a:solidFill>
                <a:latin typeface="標楷體"/>
              </a:defRPr>
            </a:pPr>
            <a:r>
              <a:t>三、法律底線①｜毒品分四級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301752"/>
            <a:ext cx="17373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1500" b="1">
                <a:solidFill>
                  <a:srgbClr val="2B7059"/>
                </a:solidFill>
                <a:latin typeface="標楷體"/>
              </a:defRPr>
            </a:pPr>
            <a:r>
              <a:t>法規宣導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5943600" cy="548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000" b="1">
                <a:solidFill>
                  <a:srgbClr val="B03737"/>
                </a:solidFill>
                <a:latin typeface="標楷體"/>
              </a:defRPr>
            </a:pPr>
            <a:r>
              <a:t>《毒品危害防制條例》第2條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10789920" cy="7315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000" b="1">
                <a:solidFill>
                  <a:srgbClr val="1C3A52"/>
                </a:solidFill>
                <a:latin typeface="標楷體"/>
              </a:defRPr>
            </a:pPr>
            <a:r>
              <a:t>毒品依成癮性、濫用性及社會危害性，分為第一級至第四級。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18288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800" b="1">
                <a:solidFill>
                  <a:srgbClr val="2B7059"/>
                </a:solidFill>
                <a:latin typeface="標楷體"/>
              </a:defRPr>
            </a:pPr>
            <a:r>
              <a:t>第一級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743200"/>
            <a:ext cx="8138160" cy="954107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defRPr sz="2800" b="0">
                <a:solidFill>
                  <a:srgbClr val="505050"/>
                </a:solidFill>
                <a:latin typeface="標楷體"/>
              </a:defRPr>
            </a:pPr>
            <a:r>
              <a:rPr dirty="0" err="1"/>
              <a:t>海洛因、嗎啡、</a:t>
            </a:r>
            <a:r>
              <a:rPr dirty="0" err="1" smtClean="0"/>
              <a:t>古柯鹼等</a:t>
            </a:r>
            <a:r>
              <a:rPr lang="zh-TW" altLang="en-US" dirty="0"/>
              <a:t>、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依托咪酯等</a:t>
            </a:r>
          </a:p>
          <a:p>
            <a:pPr algn="l">
              <a:defRPr sz="2800" b="0">
                <a:solidFill>
                  <a:srgbClr val="505050"/>
                </a:solidFill>
                <a:latin typeface="標楷體"/>
              </a:defRPr>
            </a:pP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822960" y="3456432"/>
            <a:ext cx="18288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800" b="1">
                <a:solidFill>
                  <a:srgbClr val="2B7059"/>
                </a:solidFill>
                <a:latin typeface="標楷體"/>
              </a:defRPr>
            </a:pPr>
            <a:r>
              <a:t>第二級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456432"/>
            <a:ext cx="8138160" cy="5232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800" b="0">
                <a:solidFill>
                  <a:srgbClr val="505050"/>
                </a:solidFill>
                <a:latin typeface="標楷體"/>
              </a:defRPr>
            </a:pPr>
            <a:r>
              <a:rPr dirty="0" err="1"/>
              <a:t>大麻、</a:t>
            </a:r>
            <a:r>
              <a:rPr dirty="0" err="1" smtClean="0"/>
              <a:t>安非他命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822960" y="4169664"/>
            <a:ext cx="18288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800" b="1">
                <a:solidFill>
                  <a:srgbClr val="2B7059"/>
                </a:solidFill>
                <a:latin typeface="標楷體"/>
              </a:defRPr>
            </a:pPr>
            <a:r>
              <a:t>第三級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169664"/>
            <a:ext cx="813816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800" b="0">
                <a:solidFill>
                  <a:srgbClr val="505050"/>
                </a:solidFill>
                <a:latin typeface="標楷體"/>
              </a:defRPr>
            </a:pPr>
            <a:r>
              <a:t>依法公告之第三級毒品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82896"/>
            <a:ext cx="18288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800" b="1">
                <a:solidFill>
                  <a:srgbClr val="2B7059"/>
                </a:solidFill>
                <a:latin typeface="標楷體"/>
              </a:defRPr>
            </a:pPr>
            <a:r>
              <a:t>第四級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882896"/>
            <a:ext cx="813816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800" b="0">
                <a:solidFill>
                  <a:srgbClr val="505050"/>
                </a:solidFill>
                <a:latin typeface="標楷體"/>
              </a:defRPr>
            </a:pPr>
            <a:r>
              <a:t>依法公告之第四級毒品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15000"/>
            <a:ext cx="1069848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500" b="0">
                <a:solidFill>
                  <a:srgbClr val="646464"/>
                </a:solidFill>
                <a:latin typeface="標楷體"/>
              </a:defRPr>
            </a:pPr>
            <a:r>
              <a:t>毒品品項會依法公告調整；實際認定以最新法規及公告為準。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7D7D7D"/>
                </a:solidFill>
                <a:latin typeface="標楷體"/>
              </a:defRPr>
            </a:pPr>
            <a:r>
              <a:t>115學年度 青年高中班親會｜學務處反毒宣導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1200" b="0">
                <a:solidFill>
                  <a:srgbClr val="7D7D7D"/>
                </a:solidFill>
                <a:latin typeface="標楷體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400" b="1">
                <a:solidFill>
                  <a:srgbClr val="1C3A52"/>
                </a:solidFill>
                <a:latin typeface="標楷體"/>
              </a:defRPr>
            </a:pPr>
            <a:r>
              <a:t>四、法律底線②｜施用、持有也會出事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301752"/>
            <a:ext cx="17373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1500" b="1">
                <a:solidFill>
                  <a:srgbClr val="2B7059"/>
                </a:solidFill>
                <a:latin typeface="標楷體"/>
              </a:defRPr>
            </a:pPr>
            <a:r>
              <a:t>法規宣導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55448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000" b="1">
                <a:solidFill>
                  <a:srgbClr val="B03737"/>
                </a:solidFill>
                <a:latin typeface="標楷體"/>
              </a:defRPr>
            </a:pPr>
            <a:r>
              <a:t>第10條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078992"/>
            <a:ext cx="8869680" cy="12344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000" b="1">
                <a:solidFill>
                  <a:srgbClr val="1C3A52"/>
                </a:solidFill>
                <a:latin typeface="標楷體"/>
              </a:defRPr>
            </a:pPr>
            <a:r>
              <a:t>施用第一級毒品：6月以上5年以下有期徒刑</a:t>
            </a:r>
            <a:br/>
            <a:r>
              <a:t>施用第二級毒品：3年以下有期徒刑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155448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000" b="1">
                <a:solidFill>
                  <a:srgbClr val="B03737"/>
                </a:solidFill>
                <a:latin typeface="標楷體"/>
              </a:defRPr>
            </a:pPr>
            <a:r>
              <a:t>第11條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2670048"/>
            <a:ext cx="8869680" cy="1325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000" b="0">
                <a:solidFill>
                  <a:srgbClr val="505050"/>
                </a:solidFill>
                <a:latin typeface="標楷體"/>
              </a:defRPr>
            </a:pPr>
            <a:r>
              <a:t>持有第一、二級毒品即有刑事責任；</a:t>
            </a:r>
            <a:br/>
            <a:r>
              <a:t>第三、四級毒品達法定純質淨重，也可能負刑責。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43400"/>
            <a:ext cx="18288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000" b="1">
                <a:solidFill>
                  <a:srgbClr val="B03737"/>
                </a:solidFill>
                <a:latin typeface="標楷體"/>
              </a:defRPr>
            </a:pPr>
            <a:r>
              <a:t>第11-1條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4315968"/>
            <a:ext cx="8412480" cy="7772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000" b="1">
                <a:solidFill>
                  <a:srgbClr val="2B7059"/>
                </a:solidFill>
                <a:latin typeface="標楷體"/>
              </a:defRPr>
            </a:pPr>
            <a:r>
              <a:t>少年施用第三、四級毒品，依《少年事件處理法》處理。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577840"/>
            <a:ext cx="1078992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3000" b="1">
                <a:solidFill>
                  <a:srgbClr val="B03737"/>
                </a:solidFill>
                <a:latin typeface="標楷體"/>
              </a:defRPr>
            </a:pPr>
            <a:r>
              <a:t>不是「低級數」就沒事，也不是「第一次」就沒有法律風險。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7D7D7D"/>
                </a:solidFill>
                <a:latin typeface="標楷體"/>
              </a:defRPr>
            </a:pPr>
            <a:r>
              <a:t>115學年度 青年高中班親會｜學務處反毒宣導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1200" b="0">
                <a:solidFill>
                  <a:srgbClr val="7D7D7D"/>
                </a:solidFill>
                <a:latin typeface="標楷體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400" b="1">
                <a:solidFill>
                  <a:srgbClr val="1C3A52"/>
                </a:solidFill>
                <a:latin typeface="標楷體"/>
              </a:defRPr>
            </a:pPr>
            <a:r>
              <a:t>五、法律底線③｜幫朋友拿、送、分，也可能犯罪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301752"/>
            <a:ext cx="17373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1500" b="1">
                <a:solidFill>
                  <a:srgbClr val="2B7059"/>
                </a:solidFill>
                <a:latin typeface="標楷體"/>
              </a:defRPr>
            </a:pPr>
            <a:r>
              <a:t>法規宣導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429768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000" b="1">
                <a:solidFill>
                  <a:srgbClr val="1C3A52"/>
                </a:solidFill>
                <a:latin typeface="標楷體"/>
              </a:defRPr>
            </a:pPr>
            <a:r>
              <a:t>《毒品危害防制條例》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698480" cy="2560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000" b="0">
                <a:solidFill>
                  <a:srgbClr val="505050"/>
                </a:solidFill>
                <a:latin typeface="標楷體"/>
              </a:defRPr>
            </a:pPr>
            <a:r>
              <a:t>第4條：製造、運輸、販賣毒品，依級別處以重刑。</a:t>
            </a:r>
            <a:br/>
            <a:r>
              <a:t>第8條：轉讓毒品也有刑責。</a:t>
            </a:r>
            <a:br/>
            <a:r>
              <a:t>第9條：成年人對未成年人販賣、引誘或轉讓毒品等，依法加重其刑。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572000"/>
            <a:ext cx="10561320" cy="1051560"/>
          </a:xfrm>
          <a:prstGeom prst="roundRect">
            <a:avLst/>
          </a:prstGeom>
          <a:solidFill>
            <a:srgbClr val="FA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4828032"/>
            <a:ext cx="10149840" cy="548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3000" b="1">
                <a:solidFill>
                  <a:srgbClr val="B03737"/>
                </a:solidFill>
                <a:latin typeface="標楷體"/>
              </a:defRPr>
            </a:pPr>
            <a:r>
              <a:t>請告訴孩子：不代購、不保管、不轉交、不分享。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7D7D7D"/>
                </a:solidFill>
                <a:latin typeface="標楷體"/>
              </a:defRPr>
            </a:pPr>
            <a:r>
              <a:t>115學年度 青年高中班親會｜學務處反毒宣導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1200" b="0">
                <a:solidFill>
                  <a:srgbClr val="7D7D7D"/>
                </a:solidFill>
                <a:latin typeface="標楷體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400" b="1">
                <a:solidFill>
                  <a:srgbClr val="1C3A52"/>
                </a:solidFill>
                <a:latin typeface="標楷體"/>
              </a:defRPr>
            </a:pPr>
            <a:r>
              <a:t>六、家長可觀察的「四個改變」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301752"/>
            <a:ext cx="17373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1500" b="1">
                <a:solidFill>
                  <a:srgbClr val="2B7059"/>
                </a:solidFill>
                <a:latin typeface="標楷體"/>
              </a:defRPr>
            </a:pPr>
            <a:r>
              <a:t>家庭守門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1828800" cy="713232"/>
          </a:xfrm>
          <a:prstGeom prst="roundRect">
            <a:avLst/>
          </a:prstGeom>
          <a:solidFill>
            <a:srgbClr val="E8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6628" y="1148225"/>
            <a:ext cx="1463040" cy="457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3000" b="1">
                <a:solidFill>
                  <a:srgbClr val="2B7059"/>
                </a:solidFill>
                <a:latin typeface="標楷體"/>
              </a:defRPr>
            </a:pPr>
            <a:r>
              <a:rPr dirty="0" err="1"/>
              <a:t>物品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2788920" y="1170432"/>
            <a:ext cx="832104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000" b="0">
                <a:solidFill>
                  <a:srgbClr val="505050"/>
                </a:solidFill>
                <a:latin typeface="標楷體"/>
              </a:defRPr>
            </a:pPr>
            <a:r>
              <a:t>出現不明煙彈、粉末、藥錠、咖啡包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1828800" cy="713232"/>
          </a:xfrm>
          <a:prstGeom prst="roundRect">
            <a:avLst/>
          </a:prstGeom>
          <a:solidFill>
            <a:srgbClr val="E8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253996"/>
            <a:ext cx="1463040" cy="457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3000" b="1">
                <a:solidFill>
                  <a:srgbClr val="2B7059"/>
                </a:solidFill>
                <a:latin typeface="標楷體"/>
              </a:defRPr>
            </a:pPr>
            <a:r>
              <a:rPr dirty="0" err="1"/>
              <a:t>作息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2788920" y="2313432"/>
            <a:ext cx="832104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000" b="0">
                <a:solidFill>
                  <a:srgbClr val="505050"/>
                </a:solidFill>
                <a:latin typeface="標楷體"/>
              </a:defRPr>
            </a:pPr>
            <a:r>
              <a:t>日夜顛倒、常晚歸、去向刻意隱瞞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83280"/>
            <a:ext cx="1828800" cy="713232"/>
          </a:xfrm>
          <a:prstGeom prst="roundRect">
            <a:avLst/>
          </a:prstGeom>
          <a:solidFill>
            <a:srgbClr val="E8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6628" y="3430306"/>
            <a:ext cx="1463040" cy="457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3000" b="1">
                <a:solidFill>
                  <a:srgbClr val="2B7059"/>
                </a:solidFill>
                <a:latin typeface="標楷體"/>
              </a:defRPr>
            </a:pPr>
            <a:r>
              <a:rPr dirty="0" err="1"/>
              <a:t>情緒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2788920" y="3456432"/>
            <a:ext cx="832104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000" b="0">
                <a:solidFill>
                  <a:srgbClr val="505050"/>
                </a:solidFill>
                <a:latin typeface="標楷體"/>
              </a:defRPr>
            </a:pPr>
            <a:r>
              <a:t>突然異常躁動、恍神、嗜睡或起伏劇烈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26280"/>
            <a:ext cx="1828800" cy="713232"/>
          </a:xfrm>
          <a:prstGeom prst="roundRect">
            <a:avLst/>
          </a:prstGeom>
          <a:solidFill>
            <a:srgbClr val="E8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601609"/>
            <a:ext cx="1463040" cy="457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3000" b="1">
                <a:solidFill>
                  <a:srgbClr val="2B7059"/>
                </a:solidFill>
                <a:latin typeface="標楷體"/>
              </a:defRPr>
            </a:pPr>
            <a:r>
              <a:rPr dirty="0" err="1"/>
              <a:t>金錢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2788920" y="4599432"/>
            <a:ext cx="832104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000" b="0">
                <a:solidFill>
                  <a:srgbClr val="505050"/>
                </a:solidFill>
                <a:latin typeface="標楷體"/>
              </a:defRPr>
            </a:pPr>
            <a:r>
              <a:t>零用錢需求增加、財物來源說不清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715000"/>
            <a:ext cx="1078992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700" b="1">
                <a:solidFill>
                  <a:srgbClr val="1C3A52"/>
                </a:solidFill>
                <a:latin typeface="標楷體"/>
              </a:defRPr>
            </a:pPr>
            <a:r>
              <a:t>一個警訊不等於吸毒；重點是「持續觀察、溫和詢問、必要時求助」。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7D7D7D"/>
                </a:solidFill>
                <a:latin typeface="標楷體"/>
              </a:defRPr>
            </a:pPr>
            <a:r>
              <a:t>115學年度 青年高中班親會｜學務處反毒宣導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1200" b="0">
                <a:solidFill>
                  <a:srgbClr val="7D7D7D"/>
                </a:solidFill>
                <a:latin typeface="標楷體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400" b="1">
                <a:solidFill>
                  <a:srgbClr val="1C3A52"/>
                </a:solidFill>
                <a:latin typeface="標楷體"/>
              </a:defRPr>
            </a:pPr>
            <a:r>
              <a:t>七、教孩子遇到誘惑時：記住「四不一要」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301752"/>
            <a:ext cx="17373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1500" b="1">
                <a:solidFill>
                  <a:srgbClr val="2B7059"/>
                </a:solidFill>
                <a:latin typeface="標楷體"/>
              </a:defRPr>
            </a:pPr>
            <a:r>
              <a:t>拒毒技巧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05840"/>
            <a:ext cx="18288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3000" b="1">
                <a:solidFill>
                  <a:srgbClr val="B03737"/>
                </a:solidFill>
                <a:latin typeface="標楷體"/>
              </a:defRPr>
            </a:pPr>
            <a:r>
              <a:rPr dirty="0" err="1"/>
              <a:t>不接受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2743200" y="1005840"/>
            <a:ext cx="822960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000" b="0">
                <a:solidFill>
                  <a:srgbClr val="505050"/>
                </a:solidFill>
                <a:latin typeface="標楷體"/>
              </a:defRPr>
            </a:pPr>
            <a:r>
              <a:t>不收陌生或不明來源物品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18288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3000" b="1">
                <a:solidFill>
                  <a:srgbClr val="B03737"/>
                </a:solidFill>
                <a:latin typeface="標楷體"/>
              </a:defRPr>
            </a:pPr>
            <a:r>
              <a:t>不嘗試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920240"/>
            <a:ext cx="822960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000" b="0">
                <a:solidFill>
                  <a:srgbClr val="505050"/>
                </a:solidFill>
                <a:latin typeface="標楷體"/>
              </a:defRPr>
            </a:pPr>
            <a:r>
              <a:t>一次也不要試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34640"/>
            <a:ext cx="18288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3000" b="1">
                <a:solidFill>
                  <a:srgbClr val="B03737"/>
                </a:solidFill>
                <a:latin typeface="標楷體"/>
              </a:defRPr>
            </a:pPr>
            <a:r>
              <a:t>不代拿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834640"/>
            <a:ext cx="822960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000" b="0">
                <a:solidFill>
                  <a:srgbClr val="505050"/>
                </a:solidFill>
                <a:latin typeface="標楷體"/>
              </a:defRPr>
            </a:pPr>
            <a:r>
              <a:t>不替人保管或轉交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49039"/>
            <a:ext cx="18288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3000" b="1">
                <a:solidFill>
                  <a:srgbClr val="B03737"/>
                </a:solidFill>
                <a:latin typeface="標楷體"/>
              </a:defRPr>
            </a:pPr>
            <a:r>
              <a:t>不逞強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749039"/>
            <a:ext cx="822960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000" b="0">
                <a:solidFill>
                  <a:srgbClr val="505050"/>
                </a:solidFill>
                <a:latin typeface="標楷體"/>
              </a:defRPr>
            </a:pPr>
            <a:r>
              <a:t>感到不對就離開現場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8288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3000" b="1">
                <a:solidFill>
                  <a:srgbClr val="B03737"/>
                </a:solidFill>
                <a:latin typeface="標楷體"/>
              </a:defRPr>
            </a:pPr>
            <a:r>
              <a:t>要求助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663440"/>
            <a:ext cx="822960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000" b="0">
                <a:solidFill>
                  <a:srgbClr val="505050"/>
                </a:solidFill>
                <a:latin typeface="標楷體"/>
              </a:defRPr>
            </a:pPr>
            <a:r>
              <a:t>立刻找家長、老師或可信任的大人</a:t>
            </a:r>
          </a:p>
        </p:txBody>
      </p:sp>
      <p:sp>
        <p:nvSpPr>
          <p:cNvPr id="16" name="Pentagon 15"/>
          <p:cNvSpPr/>
          <p:nvPr/>
        </p:nvSpPr>
        <p:spPr>
          <a:xfrm>
            <a:off x="9738360" y="5074920"/>
            <a:ext cx="1417320" cy="1417320"/>
          </a:xfrm>
          <a:prstGeom prst="homePlate">
            <a:avLst/>
          </a:prstGeom>
          <a:solidFill>
            <a:srgbClr val="2B7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0" y="5394959"/>
            <a:ext cx="777240" cy="640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標楷體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7D7D7D"/>
                </a:solidFill>
                <a:latin typeface="標楷體"/>
              </a:defRPr>
            </a:pPr>
            <a:r>
              <a:t>115學年度 青年高中班親會｜學務處反毒宣導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1200" b="0">
                <a:solidFill>
                  <a:srgbClr val="7D7D7D"/>
                </a:solidFill>
                <a:latin typeface="標楷體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400" b="1">
                <a:solidFill>
                  <a:srgbClr val="1C3A52"/>
                </a:solidFill>
                <a:latin typeface="標楷體"/>
              </a:defRPr>
            </a:pPr>
            <a:r>
              <a:t>八、如果懷疑孩子接觸毒品，家長怎麼做？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301752"/>
            <a:ext cx="17373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1500" b="1">
                <a:solidFill>
                  <a:srgbClr val="2B7059"/>
                </a:solidFill>
                <a:latin typeface="標楷體"/>
              </a:defRPr>
            </a:pPr>
            <a:r>
              <a:t>危機處理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51560"/>
            <a:ext cx="640080" cy="640080"/>
          </a:xfrm>
          <a:prstGeom prst="roundRect">
            <a:avLst/>
          </a:prstGeom>
          <a:solidFill>
            <a:srgbClr val="2B7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124712"/>
            <a:ext cx="411480" cy="457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標楷體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033271"/>
            <a:ext cx="9601200" cy="822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000" b="0">
                <a:solidFill>
                  <a:srgbClr val="505050"/>
                </a:solidFill>
                <a:latin typeface="標楷體"/>
              </a:defRPr>
            </a:pPr>
            <a:r>
              <a:t>先確保安全：不要羞辱、恐嚇或在情緒中逼問。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48839"/>
            <a:ext cx="640080" cy="640080"/>
          </a:xfrm>
          <a:prstGeom prst="roundRect">
            <a:avLst/>
          </a:prstGeom>
          <a:solidFill>
            <a:srgbClr val="2B7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2221991"/>
            <a:ext cx="411480" cy="457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標楷體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130551"/>
            <a:ext cx="9601200" cy="822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000" b="0">
                <a:solidFill>
                  <a:srgbClr val="505050"/>
                </a:solidFill>
                <a:latin typeface="標楷體"/>
              </a:defRPr>
            </a:pPr>
            <a:r>
              <a:t>保留線索：可疑物品不要自行試聞、試吃或試用。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46120"/>
            <a:ext cx="640080" cy="640080"/>
          </a:xfrm>
          <a:prstGeom prst="roundRect">
            <a:avLst/>
          </a:prstGeom>
          <a:solidFill>
            <a:srgbClr val="2B7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3319272"/>
            <a:ext cx="411480" cy="457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標楷體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227832"/>
            <a:ext cx="9601200" cy="822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000" b="0">
                <a:solidFill>
                  <a:srgbClr val="505050"/>
                </a:solidFill>
                <a:latin typeface="標楷體"/>
              </a:defRPr>
            </a:pPr>
            <a:r>
              <a:t>立即求助：聯繫學校學務／輔導單位及專業醫療資源。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43400"/>
            <a:ext cx="640080" cy="640080"/>
          </a:xfrm>
          <a:prstGeom prst="roundRect">
            <a:avLst/>
          </a:prstGeom>
          <a:solidFill>
            <a:srgbClr val="2B7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" y="4416552"/>
            <a:ext cx="411480" cy="457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標楷體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325112"/>
            <a:ext cx="9601200" cy="822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000" b="0">
                <a:solidFill>
                  <a:srgbClr val="505050"/>
                </a:solidFill>
                <a:latin typeface="標楷體"/>
              </a:defRPr>
            </a:pPr>
            <a:r>
              <a:t>出現昏迷、抽搐、呼吸異常等急症：立即撥119送醫。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1069848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3000" b="1">
                <a:solidFill>
                  <a:srgbClr val="B03737"/>
                </a:solidFill>
                <a:latin typeface="標楷體"/>
              </a:defRPr>
            </a:pPr>
            <a:r>
              <a:t>原則：先保命、再釐清；先接住孩子、再處理責任。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7D7D7D"/>
                </a:solidFill>
                <a:latin typeface="標楷體"/>
              </a:defRPr>
            </a:pPr>
            <a:r>
              <a:t>115學年度 青年高中班親會｜學務處反毒宣導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1200" b="0">
                <a:solidFill>
                  <a:srgbClr val="7D7D7D"/>
                </a:solidFill>
                <a:latin typeface="標楷體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400" b="1">
                <a:solidFill>
                  <a:srgbClr val="1C3A52"/>
                </a:solidFill>
                <a:latin typeface="標楷體"/>
              </a:defRPr>
            </a:pPr>
            <a:r>
              <a:t>九、家長與學校：建立孩子願意求助的安全網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301752"/>
            <a:ext cx="17373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1500" b="1">
                <a:solidFill>
                  <a:srgbClr val="2B7059"/>
                </a:solidFill>
                <a:latin typeface="標楷體"/>
              </a:defRPr>
            </a:pPr>
            <a:r>
              <a:t>親師合作</a:t>
            </a:r>
          </a:p>
        </p:txBody>
      </p:sp>
      <p:sp>
        <p:nvSpPr>
          <p:cNvPr id="6" name="Oval 5"/>
          <p:cNvSpPr/>
          <p:nvPr/>
        </p:nvSpPr>
        <p:spPr>
          <a:xfrm>
            <a:off x="1463039" y="1828800"/>
            <a:ext cx="457200" cy="457200"/>
          </a:xfrm>
          <a:prstGeom prst="ellipse">
            <a:avLst/>
          </a:prstGeom>
          <a:solidFill>
            <a:srgbClr val="EEB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280160" y="2267712"/>
            <a:ext cx="822960" cy="960120"/>
          </a:xfrm>
          <a:prstGeom prst="round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154680" y="1828800"/>
            <a:ext cx="457200" cy="457200"/>
          </a:xfrm>
          <a:prstGeom prst="ellipse">
            <a:avLst/>
          </a:prstGeom>
          <a:solidFill>
            <a:srgbClr val="EEB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971800" y="2267712"/>
            <a:ext cx="822960" cy="960120"/>
          </a:xfrm>
          <a:prstGeom prst="roundRect">
            <a:avLst/>
          </a:prstGeom>
          <a:solidFill>
            <a:srgbClr val="2B7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846320" y="1828800"/>
            <a:ext cx="457200" cy="457200"/>
          </a:xfrm>
          <a:prstGeom prst="ellipse">
            <a:avLst/>
          </a:prstGeom>
          <a:solidFill>
            <a:srgbClr val="EEB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663440" y="2267712"/>
            <a:ext cx="822960" cy="960120"/>
          </a:xfrm>
          <a:prstGeom prst="roundRect">
            <a:avLst/>
          </a:prstGeom>
          <a:solidFill>
            <a:srgbClr val="D2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173736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3000" b="1">
                <a:solidFill>
                  <a:srgbClr val="1C3A52"/>
                </a:solidFill>
                <a:latin typeface="標楷體"/>
              </a:defRPr>
            </a:pPr>
            <a:r>
              <a:t>家庭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3383280"/>
            <a:ext cx="173736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3000" b="1">
                <a:solidFill>
                  <a:srgbClr val="2B7059"/>
                </a:solidFill>
                <a:latin typeface="標楷體"/>
              </a:defRPr>
            </a:pPr>
            <a:r>
              <a:t>學校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383280"/>
            <a:ext cx="256032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3000" b="1">
                <a:solidFill>
                  <a:srgbClr val="916923"/>
                </a:solidFill>
                <a:latin typeface="標楷體"/>
              </a:defRPr>
            </a:pPr>
            <a:r>
              <a:t>專業資源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39"/>
            <a:ext cx="173736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600" b="0">
                <a:solidFill>
                  <a:srgbClr val="505050"/>
                </a:solidFill>
                <a:latin typeface="標楷體"/>
              </a:defRPr>
            </a:pPr>
            <a:r>
              <a:t>關心與對話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3977639"/>
            <a:ext cx="173736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600" b="0">
                <a:solidFill>
                  <a:srgbClr val="505050"/>
                </a:solidFill>
                <a:latin typeface="標楷體"/>
              </a:defRPr>
            </a:pPr>
            <a:r>
              <a:t>教育與輔導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977639"/>
            <a:ext cx="292608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600" b="0">
                <a:solidFill>
                  <a:srgbClr val="505050"/>
                </a:solidFill>
                <a:latin typeface="標楷體"/>
              </a:defRPr>
            </a:pPr>
            <a:r>
              <a:t>醫療／警政／社政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1508760"/>
            <a:ext cx="3794760" cy="3246120"/>
          </a:xfrm>
          <a:prstGeom prst="roundRect">
            <a:avLst/>
          </a:prstGeom>
          <a:solidFill>
            <a:srgbClr val="EB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26679" y="1874519"/>
            <a:ext cx="315468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3000" b="1">
                <a:solidFill>
                  <a:srgbClr val="2B7059"/>
                </a:solidFill>
                <a:latin typeface="標楷體"/>
              </a:defRPr>
            </a:pPr>
            <a:r>
              <a:t>最重要的一句話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2697480"/>
            <a:ext cx="3154680" cy="11887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3000" b="1">
                <a:solidFill>
                  <a:srgbClr val="B03737"/>
                </a:solidFill>
                <a:latin typeface="標楷體"/>
              </a:defRPr>
            </a:pPr>
            <a:r>
              <a:rPr dirty="0"/>
              <a:t>「</a:t>
            </a:r>
            <a:r>
              <a:rPr dirty="0" err="1"/>
              <a:t>遇到事情先告訴我</a:t>
            </a:r>
            <a:r>
              <a:rPr dirty="0"/>
              <a:t>，</a:t>
            </a:r>
            <a:br>
              <a:rPr dirty="0"/>
            </a:br>
            <a:r>
              <a:rPr dirty="0" err="1"/>
              <a:t>我們一起處理</a:t>
            </a:r>
            <a:r>
              <a:rPr dirty="0"/>
              <a:t>。」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7D7D7D"/>
                </a:solidFill>
                <a:latin typeface="標楷體"/>
              </a:defRPr>
            </a:pPr>
            <a:r>
              <a:t>115學年度 青年高中班親會｜學務處反毒宣導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1200" b="0">
                <a:solidFill>
                  <a:srgbClr val="7D7D7D"/>
                </a:solidFill>
                <a:latin typeface="標楷體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400" b="1">
                <a:solidFill>
                  <a:srgbClr val="1C3A52"/>
                </a:solidFill>
                <a:latin typeface="標楷體"/>
              </a:defRPr>
            </a:pPr>
            <a:r>
              <a:t>十、今晚回家，請和孩子完成三個約定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301752"/>
            <a:ext cx="17373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1500" b="1">
                <a:solidFill>
                  <a:srgbClr val="2B7059"/>
                </a:solidFill>
                <a:latin typeface="標楷體"/>
              </a:defRPr>
            </a:pPr>
            <a:r>
              <a:t>家庭行動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92024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3000" b="1">
                <a:solidFill>
                  <a:srgbClr val="2B7059"/>
                </a:solidFill>
                <a:latin typeface="標楷體"/>
              </a:defRPr>
            </a:pPr>
            <a:r>
              <a:t>約定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188720"/>
            <a:ext cx="8046720" cy="8686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000" b="0">
                <a:solidFill>
                  <a:srgbClr val="1C3A52"/>
                </a:solidFill>
                <a:latin typeface="標楷體"/>
              </a:defRPr>
            </a:pPr>
            <a:r>
              <a:t>不碰任何不明來源的煙彈、食品、飲料或藥物。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92024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3000" b="1">
                <a:solidFill>
                  <a:srgbClr val="2B7059"/>
                </a:solidFill>
                <a:latin typeface="標楷體"/>
              </a:defRPr>
            </a:pPr>
            <a:r>
              <a:t>約定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514600"/>
            <a:ext cx="8046720" cy="8686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000" b="0">
                <a:solidFill>
                  <a:srgbClr val="1C3A52"/>
                </a:solidFill>
                <a:latin typeface="標楷體"/>
              </a:defRPr>
            </a:pPr>
            <a:r>
              <a:t>被邀約、威脅或覺得不對勁時，可以立即打電話回家。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192024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3000" b="1">
                <a:solidFill>
                  <a:srgbClr val="2B7059"/>
                </a:solidFill>
                <a:latin typeface="標楷體"/>
              </a:defRPr>
            </a:pPr>
            <a:r>
              <a:t>約定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840480"/>
            <a:ext cx="8046720" cy="8686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000" b="1">
                <a:solidFill>
                  <a:srgbClr val="B03737"/>
                </a:solidFill>
                <a:latin typeface="標楷體"/>
              </a:defRPr>
            </a:pPr>
            <a:r>
              <a:t>即使犯錯，也先求助、先保安全，不因害怕處罰而隱瞞。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440680"/>
            <a:ext cx="10789920" cy="7315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3000" b="1">
                <a:solidFill>
                  <a:srgbClr val="2B7059"/>
                </a:solidFill>
                <a:latin typeface="標楷體"/>
              </a:defRPr>
            </a:pPr>
            <a:r>
              <a:t>反毒不是一次宣導，而是讓孩子知道：家裡永遠有一條可以求救的路。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7D7D7D"/>
                </a:solidFill>
                <a:latin typeface="標楷體"/>
              </a:defRPr>
            </a:pPr>
            <a:r>
              <a:t>115學年度 青年高中班親會｜學務處反毒宣導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1200" b="0">
                <a:solidFill>
                  <a:srgbClr val="7D7D7D"/>
                </a:solidFill>
                <a:latin typeface="標楷體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400" b="1">
                <a:solidFill>
                  <a:srgbClr val="1C3A52"/>
                </a:solidFill>
                <a:latin typeface="標楷體"/>
              </a:defRPr>
            </a:pPr>
            <a:r>
              <a:t>結語｜親師合作，共同守護孩子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7315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3600" b="1">
                <a:solidFill>
                  <a:srgbClr val="1C3A52"/>
                </a:solidFill>
                <a:latin typeface="標楷體"/>
              </a:defRPr>
            </a:pPr>
            <a:r>
              <a:t>辨風險　早發現　會拒絕　敢求助</a:t>
            </a:r>
          </a:p>
        </p:txBody>
      </p:sp>
      <p:sp>
        <p:nvSpPr>
          <p:cNvPr id="6" name="Pentagon 5"/>
          <p:cNvSpPr/>
          <p:nvPr/>
        </p:nvSpPr>
        <p:spPr>
          <a:xfrm>
            <a:off x="5394960" y="2331720"/>
            <a:ext cx="1417320" cy="1417320"/>
          </a:xfrm>
          <a:prstGeom prst="homePlate">
            <a:avLst/>
          </a:prstGeom>
          <a:solidFill>
            <a:srgbClr val="2B7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15000" y="2651760"/>
            <a:ext cx="777240" cy="640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標楷體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977639"/>
            <a:ext cx="1078992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3200" b="1">
                <a:solidFill>
                  <a:srgbClr val="2B7059"/>
                </a:solidFill>
                <a:latin typeface="標楷體"/>
              </a:defRPr>
            </a:pPr>
            <a:r>
              <a:t>謝謝各位家長與學校一起守護孩子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92040"/>
            <a:ext cx="10607040" cy="10515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300" b="0">
                <a:solidFill>
                  <a:srgbClr val="5F5F5F"/>
                </a:solidFill>
                <a:latin typeface="標楷體"/>
              </a:defRPr>
            </a:pPr>
            <a:r>
              <a:t>法規依據：《毒品危害防制條例》第2、4、8、9、10、11、11-1條</a:t>
            </a:r>
            <a:br/>
            <a:r>
              <a:t>新興毒品資訊：教育部校園防制依托咪酯相關宣導資料</a:t>
            </a:r>
            <a:br/>
            <a:r>
              <a:t>※實際個案與毒品品項認定，仍以最新法令、公告及主管機關認定為準。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989320"/>
            <a:ext cx="10789920" cy="457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700" b="1">
                <a:solidFill>
                  <a:srgbClr val="1C3A52"/>
                </a:solidFill>
                <a:latin typeface="標楷體"/>
              </a:defRPr>
            </a:pPr>
            <a:r>
              <a:t>報告人：學務主任 陳文華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7D7D7D"/>
                </a:solidFill>
                <a:latin typeface="標楷體"/>
              </a:defRPr>
            </a:pPr>
            <a:r>
              <a:t>115學年度 青年高中班親會｜學務處反毒宣導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1200" b="0">
                <a:solidFill>
                  <a:srgbClr val="7D7D7D"/>
                </a:solidFill>
                <a:latin typeface="標楷體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484</Words>
  <Application>Microsoft Office PowerPoint</Application>
  <PresentationFormat>寬螢幕</PresentationFormat>
  <Paragraphs>135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9" baseType="lpstr">
      <vt:lpstr>新細明體</vt:lpstr>
      <vt:lpstr>標楷體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陳誼鋒</cp:lastModifiedBy>
  <cp:revision>5</cp:revision>
  <dcterms:created xsi:type="dcterms:W3CDTF">2013-01-27T09:14:16Z</dcterms:created>
  <dcterms:modified xsi:type="dcterms:W3CDTF">2026-09-08T07:42:11Z</dcterms:modified>
  <cp:category/>
</cp:coreProperties>
</file>